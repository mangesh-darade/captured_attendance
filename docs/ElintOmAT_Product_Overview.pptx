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6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Calibri"/>
              </a:rPr>
              <a:t>ElintOmAT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CFE8E0"/>
                </a:solidFill>
                <a:latin typeface="Calibri"/>
              </a:rPr>
              <a:t>Your personal work companion for attendance, visits and approvals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FE8E0"/>
                </a:solidFill>
                <a:latin typeface="Calibri"/>
              </a:rPr>
              <a:t>Android app  +  Web for HR / Managers  |  Product overview and user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E6B5C"/>
                </a:solidFill>
                <a:latin typeface="Calibri"/>
              </a:rPr>
              <a:t>Why ElintOmAT?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F6F6A"/>
                </a:solidFill>
                <a:latin typeface="Calibri"/>
              </a:rPr>
              <a:t>Attendance should take 5 seconds, not a conversation.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F6F6A"/>
                </a:solidFill>
                <a:latin typeface="Calibri"/>
              </a:rPr>
              <a:t>ElintOmAT  |  Attendance &amp; Work Companion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F6F6A"/>
                </a:solidFill>
                <a:latin typeface="Calibr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82296" cy="2194560"/>
          </a:xfrm>
          <a:prstGeom prst="rect">
            <a:avLst/>
          </a:prstGeom>
          <a:solidFill>
            <a:srgbClr val="0E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4708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E6B5C"/>
                </a:solidFill>
                <a:latin typeface="Calibri"/>
              </a:rPr>
              <a:t>Employees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04288"/>
            <a:ext cx="32004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Check in with a face scan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Tell the manager "I will be late" in 2 taps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See my hours, leave balance and requests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73736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737360"/>
            <a:ext cx="82296" cy="2194560"/>
          </a:xfrm>
          <a:prstGeom prst="rect">
            <a:avLst/>
          </a:prstGeom>
          <a:solidFill>
            <a:srgbClr val="2F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84708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F7CF6"/>
                </a:solidFill>
                <a:latin typeface="Calibri"/>
              </a:rPr>
              <a:t>Managers / HR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304288"/>
            <a:ext cx="32004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Approve WFH and leave on the web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See who is where, and why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Plan field visits and send announcements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73736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737360"/>
            <a:ext cx="82296" cy="21945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84708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7C3AED"/>
                </a:solidFill>
                <a:latin typeface="Calibri"/>
              </a:rPr>
              <a:t>Business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304288"/>
            <a:ext cx="32004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Trusted attendance (face + GPS)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Less follow-up and paperwork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Clear records for payroll and audits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297680"/>
            <a:ext cx="11064240" cy="1463040"/>
          </a:xfrm>
          <a:prstGeom prst="roundRect">
            <a:avLst>
              <a:gd name="adj" fmla="val 8000"/>
            </a:avLst>
          </a:prstGeom>
          <a:solidFill>
            <a:srgbClr val="E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43484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F3A33"/>
                </a:solidFill>
                <a:latin typeface="Calibri"/>
              </a:rPr>
              <a:t>One system: the app for employees, the web for managers, one backend for everything.</a:t>
            </a:r>
          </a:p>
          <a:p>
            <a:pPr algn="l"/>
            <a:r>
              <a:rPr sz="1800" b="0">
                <a:solidFill>
                  <a:srgbClr val="1F3A33"/>
                </a:solidFill>
                <a:latin typeface="Calibri"/>
              </a:rPr>
              <a:t>Works in English, Marathi, Hindi and Gujarati.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E6B5C"/>
                </a:solidFill>
                <a:latin typeface="Calibri"/>
              </a:rPr>
              <a:t>What is in 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F6F6A"/>
                </a:solidFill>
                <a:latin typeface="Calibri"/>
              </a:rPr>
              <a:t>Three parts that work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F6F6A"/>
                </a:solidFill>
                <a:latin typeface="Calibri"/>
              </a:rPr>
              <a:t>ElintOmAT  |  Attendance &amp; Work Companion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F6F6A"/>
                </a:solidFill>
                <a:latin typeface="Calibr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356616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82296" cy="3017520"/>
          </a:xfrm>
          <a:prstGeom prst="rect">
            <a:avLst/>
          </a:prstGeom>
          <a:solidFill>
            <a:srgbClr val="0E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4708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E6B5C"/>
                </a:solidFill>
                <a:latin typeface="Calibri"/>
              </a:rPr>
              <a:t>Android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04288"/>
            <a:ext cx="3200400" cy="2377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Home with one-tap check-in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Quick updates to the manager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Field-visit tools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Records and My day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Reminders and location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737360"/>
            <a:ext cx="356616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737360"/>
            <a:ext cx="82296" cy="3017520"/>
          </a:xfrm>
          <a:prstGeom prst="rect">
            <a:avLst/>
          </a:prstGeom>
          <a:solidFill>
            <a:srgbClr val="2F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84708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F7CF6"/>
                </a:solidFill>
                <a:latin typeface="Calibri"/>
              </a:rPr>
              <a:t>Web (HR module)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304288"/>
            <a:ext cx="3200400" cy="2377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Attendance requests inbox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Announcements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App Home messages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Visit plans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Attendance reports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737360"/>
            <a:ext cx="356616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737360"/>
            <a:ext cx="82296" cy="30175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84708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7C3AED"/>
                </a:solidFill>
                <a:latin typeface="Calibri"/>
              </a:rPr>
              <a:t>Backend +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304288"/>
            <a:ext cx="3200400" cy="2377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Secure token login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Face matching on the server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Site / geofence rules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Leave balances and shifts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One database for 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1206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E6B5C"/>
                </a:solidFill>
                <a:latin typeface="Calibri"/>
              </a:rPr>
              <a:t>App  &lt;-&gt;  secure API  &lt;-&gt;  database  &lt;-&gt;  web screens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E6B5C"/>
                </a:solidFill>
                <a:latin typeface="Calibri"/>
              </a:rPr>
              <a:t>The Home screen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F6F6A"/>
                </a:solidFill>
                <a:latin typeface="Calibri"/>
              </a:rPr>
              <a:t>Everything important in one view, no endless scrolling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F6F6A"/>
                </a:solidFill>
                <a:latin typeface="Calibri"/>
              </a:rPr>
              <a:t>ElintOmAT  |  Attendance &amp; Work Companion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F6F6A"/>
                </a:solidFill>
                <a:latin typeface="Calibri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329184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E6B5C"/>
                </a:solidFill>
                <a:latin typeface="Calibri"/>
              </a:rPr>
              <a:t>Good morning, Rahul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31720"/>
            <a:ext cx="694944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B46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359152"/>
            <a:ext cx="69494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B46B00"/>
                </a:solidFill>
                <a:latin typeface="Calibri"/>
              </a:rPr>
              <a:t>Running late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81328" y="2331720"/>
            <a:ext cx="694944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81328" y="2359152"/>
            <a:ext cx="69494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7C3AED"/>
                </a:solidFill>
                <a:latin typeface="Calibri"/>
              </a:rPr>
              <a:t>Work from home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31136" y="2331720"/>
            <a:ext cx="694944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31136" y="2359152"/>
            <a:ext cx="69494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B91C1C"/>
                </a:solidFill>
                <a:latin typeface="Calibri"/>
              </a:rPr>
              <a:t>Can't come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80944" y="2331720"/>
            <a:ext cx="694944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F7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80944" y="2359152"/>
            <a:ext cx="69494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2F7CF6"/>
                </a:solidFill>
                <a:latin typeface="Calibri"/>
              </a:rPr>
              <a:t>Take leave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971800"/>
            <a:ext cx="2926080" cy="1554480"/>
          </a:xfrm>
          <a:prstGeom prst="roundRect">
            <a:avLst>
              <a:gd name="adj" fmla="val 8000"/>
            </a:avLst>
          </a:prstGeom>
          <a:solidFill>
            <a:srgbClr val="E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3108960"/>
            <a:ext cx="1188720" cy="1188720"/>
          </a:xfrm>
          <a:prstGeom prst="ellipse">
            <a:avLst/>
          </a:prstGeom>
          <a:solidFill>
            <a:srgbClr val="0E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429000"/>
            <a:ext cx="1188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Check 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40" y="3200400"/>
            <a:ext cx="1463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F3A33"/>
                </a:solidFill>
                <a:latin typeface="Calibri"/>
              </a:rPr>
              <a:t>Pyramid County</a:t>
            </a:r>
          </a:p>
          <a:p>
            <a:pPr algn="l"/>
            <a:r>
              <a:rPr sz="1000" b="0">
                <a:solidFill>
                  <a:srgbClr val="1F3A33"/>
                </a:solidFill>
                <a:latin typeface="Calibri"/>
              </a:rPr>
              <a:t>View on map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663440"/>
            <a:ext cx="2926080" cy="548640"/>
          </a:xfrm>
          <a:prstGeom prst="roundRect">
            <a:avLst>
              <a:gd name="adj" fmla="val 8000"/>
            </a:avLst>
          </a:prstGeom>
          <a:solidFill>
            <a:srgbClr val="FFF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727448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46B00"/>
                </a:solidFill>
                <a:latin typeface="Calibri"/>
              </a:rPr>
              <a:t>Announcement: Happy Diwali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349240"/>
            <a:ext cx="2926080" cy="640080"/>
          </a:xfrm>
          <a:prstGeom prst="roundRect">
            <a:avLst>
              <a:gd name="adj" fmla="val 8000"/>
            </a:avLst>
          </a:prstGeom>
          <a:solidFill>
            <a:srgbClr val="E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394960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E6B5C"/>
                </a:solidFill>
                <a:latin typeface="Calibri"/>
              </a:rPr>
              <a:t>"Consistency beats intensity."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06240" y="1645920"/>
            <a:ext cx="3657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06240" y="1645920"/>
            <a:ext cx="82296" cy="1371600"/>
          </a:xfrm>
          <a:prstGeom prst="rect">
            <a:avLst/>
          </a:prstGeom>
          <a:solidFill>
            <a:srgbClr val="0E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4840" y="1755648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E6B5C"/>
                </a:solidFill>
                <a:latin typeface="Calibri"/>
              </a:rPr>
              <a:t>Check-in card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2212848"/>
            <a:ext cx="3291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3A33"/>
                </a:solidFill>
                <a:latin typeface="Calibri"/>
              </a:rPr>
              <a:t>Status, shift time, big Check In button and live location with a map shortcut.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06240" y="3154680"/>
            <a:ext cx="3657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06240" y="3154680"/>
            <a:ext cx="82296" cy="1371600"/>
          </a:xfrm>
          <a:prstGeom prst="rect">
            <a:avLst/>
          </a:prstGeom>
          <a:solidFill>
            <a:srgbClr val="B4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34840" y="3264408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B46B00"/>
                </a:solidFill>
                <a:latin typeface="Calibri"/>
              </a:rPr>
              <a:t>Quick tiles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3721608"/>
            <a:ext cx="3291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3A33"/>
                </a:solidFill>
                <a:latin typeface="Calibri"/>
              </a:rPr>
              <a:t>Late, WFH, can't come, leave: the manager is told in two taps.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06240" y="4663440"/>
            <a:ext cx="3657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06240" y="4663440"/>
            <a:ext cx="82296" cy="1371600"/>
          </a:xfrm>
          <a:prstGeom prst="rect">
            <a:avLst/>
          </a:prstGeom>
          <a:solidFill>
            <a:srgbClr val="2F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4840" y="4773168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F7CF6"/>
                </a:solidFill>
                <a:latin typeface="Calibri"/>
              </a:rPr>
              <a:t>Stats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5230368"/>
            <a:ext cx="3291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3A33"/>
                </a:solidFill>
                <a:latin typeface="Calibri"/>
              </a:rPr>
              <a:t>Days this week, on-time streak and month attendance %.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46720" y="164592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46720" y="1645920"/>
            <a:ext cx="82296" cy="13716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75320" y="175564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Calibri"/>
              </a:rPr>
              <a:t>Announcements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2212848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3A33"/>
                </a:solidFill>
                <a:latin typeface="Calibri"/>
              </a:rPr>
              <a:t>Swipe through notices; acknowledge important ones.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46720" y="315468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46720" y="3154680"/>
            <a:ext cx="82296" cy="1371600"/>
          </a:xfrm>
          <a:prstGeom prst="rect">
            <a:avLst/>
          </a:prstGeom>
          <a:solidFill>
            <a:srgbClr val="0E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75320" y="326440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E6B5C"/>
                </a:solidFill>
                <a:latin typeface="Calibri"/>
              </a:rPr>
              <a:t>Today's thought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75320" y="3721608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3A33"/>
                </a:solidFill>
                <a:latin typeface="Calibri"/>
              </a:rPr>
              <a:t>A line of motivation chosen by HR on the web.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46720" y="466344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046720" y="4663440"/>
            <a:ext cx="82296" cy="1371600"/>
          </a:xfrm>
          <a:prstGeom prst="rect">
            <a:avLst/>
          </a:prstGeom>
          <a:solidFill>
            <a:srgbClr val="2F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75320" y="477316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F7CF6"/>
                </a:solidFill>
                <a:latin typeface="Calibri"/>
              </a:rPr>
              <a:t>Daily heading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75320" y="5230368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3A33"/>
                </a:solidFill>
                <a:latin typeface="Calibri"/>
              </a:rPr>
              <a:t>The big line at the top is also managed from the web.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E6B5C"/>
                </a:solidFill>
                <a:latin typeface="Calibri"/>
              </a:rPr>
              <a:t>Check-in in seconds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F6F6A"/>
                </a:solidFill>
                <a:latin typeface="Calibri"/>
              </a:rPr>
              <a:t>Face + location, with a safe fallback for every situation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F6F6A"/>
                </a:solidFill>
                <a:latin typeface="Calibri"/>
              </a:rPr>
              <a:t>ElintOmAT  |  Attendance &amp; Work Companion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F6F6A"/>
                </a:solidFill>
                <a:latin typeface="Calibri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265176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1874519"/>
            <a:ext cx="548640" cy="548640"/>
          </a:xfrm>
          <a:prstGeom prst="ellipse">
            <a:avLst/>
          </a:prstGeom>
          <a:solidFill>
            <a:srgbClr val="0E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38528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6032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E6B5C"/>
                </a:solidFill>
                <a:latin typeface="Calibri"/>
              </a:rPr>
              <a:t>Tap Check 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26080"/>
            <a:ext cx="23774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3A33"/>
                </a:solidFill>
                <a:latin typeface="Calibri"/>
              </a:rPr>
              <a:t>Camera opens with a face guide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737360"/>
            <a:ext cx="265176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66160" y="1874519"/>
            <a:ext cx="548640" cy="548640"/>
          </a:xfrm>
          <a:prstGeom prst="ellipse">
            <a:avLst/>
          </a:prstGeom>
          <a:solidFill>
            <a:srgbClr val="0E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1938528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56032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E6B5C"/>
                </a:solidFill>
                <a:latin typeface="Calibri"/>
              </a:rPr>
              <a:t>Face scan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926080"/>
            <a:ext cx="23774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3A33"/>
                </a:solidFill>
                <a:latin typeface="Calibri"/>
              </a:rPr>
              <a:t>Matched on the server (128-point face data, no photo stored for matching)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737360"/>
            <a:ext cx="265176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0" y="1874519"/>
            <a:ext cx="548640" cy="548640"/>
          </a:xfrm>
          <a:prstGeom prst="ellipse">
            <a:avLst/>
          </a:prstGeom>
          <a:solidFill>
            <a:srgbClr val="0E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938528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56032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E6B5C"/>
                </a:solidFill>
                <a:latin typeface="Calibri"/>
              </a:rPr>
              <a:t>Location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926080"/>
            <a:ext cx="23774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3A33"/>
                </a:solidFill>
                <a:latin typeface="Calibri"/>
              </a:rPr>
              <a:t>Live GPS matched to saved sites. Unknown site is saved, not blocked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0" y="1737360"/>
            <a:ext cx="265176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235440" y="1874519"/>
            <a:ext cx="548640" cy="548640"/>
          </a:xfrm>
          <a:prstGeom prst="ellipse">
            <a:avLst/>
          </a:prstGeom>
          <a:solidFill>
            <a:srgbClr val="0E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938528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256032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E6B5C"/>
                </a:solidFill>
                <a:latin typeface="Calibri"/>
              </a:rPr>
              <a:t>Done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2926080"/>
            <a:ext cx="23774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3A33"/>
                </a:solidFill>
                <a:latin typeface="Calibri"/>
              </a:rPr>
              <a:t>Vibration + success message; Home shows the visit timer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297680"/>
            <a:ext cx="36576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297680"/>
            <a:ext cx="82296" cy="1828800"/>
          </a:xfrm>
          <a:prstGeom prst="rect">
            <a:avLst/>
          </a:prstGeom>
          <a:solidFill>
            <a:srgbClr val="B4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407408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B46B00"/>
                </a:solidFill>
                <a:latin typeface="Calibri"/>
              </a:rPr>
              <a:t>Face fails 3 times?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864608"/>
            <a:ext cx="32918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3A33"/>
                </a:solidFill>
                <a:latin typeface="Calibri"/>
              </a:rPr>
              <a:t>The app offers "Check in without face scan". The punch is saved and the manager gets a note to review.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0" y="4297680"/>
            <a:ext cx="36576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97680" y="4297680"/>
            <a:ext cx="82296" cy="1828800"/>
          </a:xfrm>
          <a:prstGeom prst="rect">
            <a:avLst/>
          </a:prstGeom>
          <a:solidFill>
            <a:srgbClr val="2F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26280" y="4407408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F7CF6"/>
                </a:solidFill>
                <a:latin typeface="Calibri"/>
              </a:rPr>
              <a:t>No internet?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6280" y="4864608"/>
            <a:ext cx="32918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3A33"/>
                </a:solidFill>
                <a:latin typeface="Calibri"/>
              </a:rPr>
              <a:t>The punch is saved as Pending with the real time, and syncs automatically. You see "Synced" when done.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20" y="429768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46720" y="4297680"/>
            <a:ext cx="82296" cy="18288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75320" y="440740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7C3AED"/>
                </a:solidFill>
                <a:latin typeface="Calibri"/>
              </a:rPr>
              <a:t>Working from home?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4864608"/>
            <a:ext cx="3200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3A33"/>
                </a:solidFill>
                <a:latin typeface="Calibri"/>
              </a:rPr>
              <a:t>If the manager approved WFH for today, the punch is marked WFH automatically.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E6B5C"/>
                </a:solidFill>
                <a:latin typeface="Calibri"/>
              </a:rPr>
              <a:t>Tell the manager in two taps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F6F6A"/>
                </a:solidFill>
                <a:latin typeface="Calibri"/>
              </a:rPr>
              <a:t>Late, WFH, can't come and leave, with approval and Undo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F6F6A"/>
                </a:solidFill>
                <a:latin typeface="Calibri"/>
              </a:rPr>
              <a:t>ElintOmAT  |  Attendance &amp; Work Companion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F6F6A"/>
                </a:solidFill>
                <a:latin typeface="Calibri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25603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E6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E6B5C"/>
                </a:solidFill>
                <a:latin typeface="Calibri"/>
              </a:rPr>
              <a:t>Employee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21945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Taps a tile, picks time / reason / dates, adds note or a voice note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27248" y="2697480"/>
            <a:ext cx="237744" cy="365760"/>
          </a:xfrm>
          <a:prstGeom prst="rightArrow">
            <a:avLst/>
          </a:prstGeom>
          <a:solidFill>
            <a:srgbClr val="0E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83280" y="1828800"/>
            <a:ext cx="25603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E6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96596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E6B5C"/>
                </a:solidFill>
                <a:latin typeface="Calibri"/>
              </a:rPr>
              <a:t>Manager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468880"/>
            <a:ext cx="21945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Gets it in the web inbox and a notification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61888" y="2697480"/>
            <a:ext cx="237744" cy="365760"/>
          </a:xfrm>
          <a:prstGeom prst="rightArrow">
            <a:avLst/>
          </a:prstGeom>
          <a:solidFill>
            <a:srgbClr val="0E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1828800"/>
            <a:ext cx="25603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E6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6596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E6B5C"/>
                </a:solidFill>
                <a:latin typeface="Calibri"/>
              </a:rPr>
              <a:t>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68880"/>
            <a:ext cx="21945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Approve or reject with a note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796528" y="2697480"/>
            <a:ext cx="237744" cy="365760"/>
          </a:xfrm>
          <a:prstGeom prst="rightArrow">
            <a:avLst/>
          </a:prstGeom>
          <a:solidFill>
            <a:srgbClr val="0E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52560" y="1828800"/>
            <a:ext cx="25603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E6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196596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E6B5C"/>
                </a:solidFill>
                <a:latin typeface="Calibri"/>
              </a:rPr>
              <a:t>Employee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468880"/>
            <a:ext cx="21945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Sees Approved / Rejected on Home; leave balance updates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297680"/>
            <a:ext cx="356616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297680"/>
            <a:ext cx="82296" cy="1737360"/>
          </a:xfrm>
          <a:prstGeom prst="rect">
            <a:avLst/>
          </a:prstGeom>
          <a:solidFill>
            <a:srgbClr val="0E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40740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E6B5C"/>
                </a:solidFill>
                <a:latin typeface="Calibri"/>
              </a:rPr>
              <a:t>Status stays visible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864608"/>
            <a:ext cx="3200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3A33"/>
                </a:solidFill>
                <a:latin typeface="Calibri"/>
              </a:rPr>
              <a:t>Sent, Pending, Approved, Rejected. Undo any time before approval.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4297680"/>
            <a:ext cx="356616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7680" y="4297680"/>
            <a:ext cx="82296" cy="1737360"/>
          </a:xfrm>
          <a:prstGeom prst="rect">
            <a:avLst/>
          </a:prstGeom>
          <a:solidFill>
            <a:srgbClr val="2F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80" y="440740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F7CF6"/>
                </a:solidFill>
                <a:latin typeface="Calibri"/>
              </a:rPr>
              <a:t>Smart clearing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4864608"/>
            <a:ext cx="3200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3A33"/>
                </a:solidFill>
                <a:latin typeface="Calibri"/>
              </a:rPr>
              <a:t>"Running late" clears itself when you check in.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4297680"/>
            <a:ext cx="356616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6720" y="4297680"/>
            <a:ext cx="82296" cy="1737360"/>
          </a:xfrm>
          <a:prstGeom prst="rect">
            <a:avLst/>
          </a:prstGeom>
          <a:solidFill>
            <a:srgbClr val="B4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5320" y="440740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B46B00"/>
                </a:solidFill>
                <a:latin typeface="Calibri"/>
              </a:rPr>
              <a:t>Missed a check-out?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4864608"/>
            <a:ext cx="3200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3A33"/>
                </a:solidFill>
                <a:latin typeface="Calibri"/>
              </a:rPr>
              <a:t>A card on Home lets you request a correction in 10 seconds.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E6B5C"/>
                </a:solidFill>
                <a:latin typeface="Calibri"/>
              </a:rPr>
              <a:t>Field visits made simple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F6F6A"/>
                </a:solidFill>
                <a:latin typeface="Calibri"/>
              </a:rPr>
              <a:t>Plan from the web, work from the phone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F6F6A"/>
                </a:solidFill>
                <a:latin typeface="Calibri"/>
              </a:rPr>
              <a:t>ElintOmAT  |  Attendance &amp; Work Companion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F6F6A"/>
                </a:solidFill>
                <a:latin typeface="Calibri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365760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82296" cy="2103120"/>
          </a:xfrm>
          <a:prstGeom prst="rect">
            <a:avLst/>
          </a:prstGeom>
          <a:solidFill>
            <a:srgbClr val="0E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47088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E6B5C"/>
                </a:solidFill>
                <a:latin typeface="Calibri"/>
              </a:rPr>
              <a:t>Today's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04288"/>
            <a:ext cx="3291840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Admin plans the stops for each employee on the web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The app lists them: Done, Now, next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End visit moves to the next stop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737360"/>
            <a:ext cx="365760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737360"/>
            <a:ext cx="82296" cy="2103120"/>
          </a:xfrm>
          <a:prstGeom prst="rect">
            <a:avLst/>
          </a:prstGeom>
          <a:solidFill>
            <a:srgbClr val="2F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847088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F7CF6"/>
                </a:solidFill>
                <a:latin typeface="Calibri"/>
              </a:rPr>
              <a:t>Visit card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304288"/>
            <a:ext cx="3291840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Customer name and address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Open orders, last visit date, tasks due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Live timer from check-in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737360"/>
            <a:ext cx="356616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737360"/>
            <a:ext cx="82296" cy="21031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84708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7C3AED"/>
                </a:solidFill>
                <a:latin typeface="Calibri"/>
              </a:rPr>
              <a:t>Capture on the spot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304288"/>
            <a:ext cx="3200400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Add note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Photo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Voice note (up to 60 s)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Details with all of today's notes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206240"/>
            <a:ext cx="11064240" cy="1828800"/>
          </a:xfrm>
          <a:prstGeom prst="roundRect">
            <a:avLst>
              <a:gd name="adj" fmla="val 8000"/>
            </a:avLst>
          </a:prstGeom>
          <a:solidFill>
            <a:srgbClr val="E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343400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F3A33"/>
                </a:solidFill>
                <a:latin typeface="Calibri"/>
              </a:rPr>
              <a:t>After the last visit: Day complete shows worked time, number of visits and time spent outside the site area.</a:t>
            </a:r>
          </a:p>
          <a:p>
            <a:pPr algn="l"/>
            <a:r>
              <a:rPr sz="1700" b="0">
                <a:solidFill>
                  <a:srgbClr val="1F3A33"/>
                </a:solidFill>
                <a:latin typeface="Calibri"/>
              </a:rPr>
              <a:t>The employee adds a note and a mood in one tap, so managers get a daily summary without chasing anyone.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E6B5C"/>
                </a:solidFill>
                <a:latin typeface="Calibri"/>
              </a:rPr>
              <a:t>Records and My 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F6F6A"/>
                </a:solidFill>
                <a:latin typeface="Calibri"/>
              </a:rPr>
              <a:t>Transparent for the employee, ready for HR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F6F6A"/>
                </a:solidFill>
                <a:latin typeface="Calibri"/>
              </a:rPr>
              <a:t>ElintOmAT  |  Attendance &amp; Work Companion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F6F6A"/>
                </a:solidFill>
                <a:latin typeface="Calibri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539496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82296" cy="2103120"/>
          </a:xfrm>
          <a:prstGeom prst="rect">
            <a:avLst/>
          </a:prstGeom>
          <a:solidFill>
            <a:srgbClr val="0E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47088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E6B5C"/>
                </a:solidFill>
                <a:latin typeface="Calibri"/>
              </a:rPr>
              <a:t>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04288"/>
            <a:ext cx="5029200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Month view: days present, hours, overtime, late days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Leave balance: Casual, Sick, Earned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My requests with status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Missed-punch fixes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737360"/>
            <a:ext cx="539496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737360"/>
            <a:ext cx="82296" cy="2103120"/>
          </a:xfrm>
          <a:prstGeom prst="rect">
            <a:avLst/>
          </a:prstGeom>
          <a:solidFill>
            <a:srgbClr val="2F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847088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F7CF6"/>
                </a:solidFill>
                <a:latin typeface="Calibri"/>
              </a:rPr>
              <a:t>My 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304288"/>
            <a:ext cx="5029200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Every punch with time and place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Breaks between visits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Shift timing and today's notices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38912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E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663440"/>
            <a:ext cx="26517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0E6B5C"/>
                </a:solidFill>
                <a:latin typeface="Calibri"/>
              </a:rPr>
              <a:t>Days present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438912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E9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4663440"/>
            <a:ext cx="26517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2F7CF6"/>
                </a:solidFill>
                <a:latin typeface="Calibri"/>
              </a:rPr>
              <a:t>Hours worked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38912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0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4663440"/>
            <a:ext cx="26517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7C3AED"/>
                </a:solidFill>
                <a:latin typeface="Calibri"/>
              </a:rPr>
              <a:t>Overtime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438912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DF0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0" y="4663440"/>
            <a:ext cx="26517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B46B00"/>
                </a:solidFill>
                <a:latin typeface="Calibri"/>
              </a:rPr>
              <a:t>Late days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E6B5C"/>
                </a:solidFill>
                <a:latin typeface="Calibri"/>
              </a:rPr>
              <a:t>The web side for HR and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F6F6A"/>
                </a:solidFill>
                <a:latin typeface="Calibri"/>
              </a:rPr>
              <a:t>Four screens in the HR module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F6F6A"/>
                </a:solidFill>
                <a:latin typeface="Calibri"/>
              </a:rPr>
              <a:t>ElintOmAT  |  Attendance &amp; Work Companion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F6F6A"/>
                </a:solidFill>
                <a:latin typeface="Calibri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53949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82296" cy="2011680"/>
          </a:xfrm>
          <a:prstGeom prst="rect">
            <a:avLst/>
          </a:prstGeom>
          <a:solidFill>
            <a:srgbClr val="0E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47088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E6B5C"/>
                </a:solidFill>
                <a:latin typeface="Calibri"/>
              </a:rPr>
              <a:t>Attendance requests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04288"/>
            <a:ext cx="5029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Approve or reject WFH, leave, late, corrections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Hear the voice note, add a decision note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Managers see their team; admin sees all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737360"/>
            <a:ext cx="53949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737360"/>
            <a:ext cx="82296" cy="2011680"/>
          </a:xfrm>
          <a:prstGeom prst="rect">
            <a:avLst/>
          </a:prstGeom>
          <a:solidFill>
            <a:srgbClr val="2F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847088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F7CF6"/>
                </a:solidFill>
                <a:latin typeface="Calibri"/>
              </a:rPr>
              <a:t>Announcements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304288"/>
            <a:ext cx="5029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Title, body, tag, dates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Require acknowledgement and see who read it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Hide or show any 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23360"/>
            <a:ext cx="53949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023360"/>
            <a:ext cx="82296" cy="2011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133088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7C3AED"/>
                </a:solidFill>
                <a:latin typeface="Calibri"/>
              </a:rPr>
              <a:t>App Home messages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590288"/>
            <a:ext cx="5029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Control the daily heading and the thought of the day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Add many; one is chosen per day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No app update needed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023360"/>
            <a:ext cx="53949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4023360"/>
            <a:ext cx="82296" cy="2011680"/>
          </a:xfrm>
          <a:prstGeom prst="rect">
            <a:avLst/>
          </a:prstGeom>
          <a:solidFill>
            <a:srgbClr val="B4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133088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B46B00"/>
                </a:solidFill>
                <a:latin typeface="Calibri"/>
              </a:rPr>
              <a:t>Visit plans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590288"/>
            <a:ext cx="5029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Pick date, employee, customer (from your customer list), time and task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See which stops are done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Shows up in the app as Today's plan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E6B5C"/>
                </a:solidFill>
                <a:latin typeface="Calibri"/>
              </a:rPr>
              <a:t>Location and privacy, handled openly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F6F6A"/>
                </a:solidFill>
                <a:latin typeface="Calibri"/>
              </a:rPr>
              <a:t>Only what is needed, only while it is needed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F6F6A"/>
                </a:solidFill>
                <a:latin typeface="Calibri"/>
              </a:rPr>
              <a:t>ElintOmAT  |  Attendance &amp; Work Companion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F6F6A"/>
                </a:solidFill>
                <a:latin typeface="Calibr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539496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82296" cy="2103120"/>
          </a:xfrm>
          <a:prstGeom prst="rect">
            <a:avLst/>
          </a:prstGeom>
          <a:solidFill>
            <a:srgbClr val="0E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47088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E6B5C"/>
                </a:solidFill>
                <a:latin typeface="Calibri"/>
              </a:rPr>
              <a:t>Geofence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04288"/>
            <a:ext cx="5029200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Each site has a radius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Leaving and re-entering is recorded with the time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The app and Day complete show total time outside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737360"/>
            <a:ext cx="539496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737360"/>
            <a:ext cx="82296" cy="2103120"/>
          </a:xfrm>
          <a:prstGeom prst="rect">
            <a:avLst/>
          </a:prstGeom>
          <a:solidFill>
            <a:srgbClr val="2F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847088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F7CF6"/>
                </a:solidFill>
                <a:latin typeface="Calibri"/>
              </a:rPr>
              <a:t>Tracking window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304288"/>
            <a:ext cx="5029200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Location is tracked only until check-out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A clear note on Home explains it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Tap it to see "What we collect"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114800"/>
            <a:ext cx="539496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114800"/>
            <a:ext cx="82296" cy="18288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224528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7C3AED"/>
                </a:solidFill>
                <a:latin typeface="Calibri"/>
              </a:rPr>
              <a:t>Face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81728"/>
            <a:ext cx="50292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Only a numeric face signature is used for matching, never a video. Fallback exists if a face is not recognised.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114800"/>
            <a:ext cx="539496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4114800"/>
            <a:ext cx="82296" cy="1828800"/>
          </a:xfrm>
          <a:prstGeom prst="rect">
            <a:avLst/>
          </a:prstGeom>
          <a:solidFill>
            <a:srgbClr val="B4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224528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B46B00"/>
                </a:solidFill>
                <a:latin typeface="Calibri"/>
              </a:rPr>
              <a:t>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681728"/>
            <a:ext cx="50292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Signed login token, admin-only actions on the web, protected forms, inputs sanitised.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E6B5C"/>
                </a:solidFill>
                <a:latin typeface="Calibri"/>
              </a:rPr>
              <a:t>Gentle reminders, in your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F6F6A"/>
                </a:solidFill>
                <a:latin typeface="Calibri"/>
              </a:rPr>
              <a:t>Helpful, capped, never spammy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F6F6A"/>
                </a:solidFill>
                <a:latin typeface="Calibri"/>
              </a:rPr>
              <a:t>ElintOmAT  |  Attendance &amp; Work Companion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F6F6A"/>
                </a:solidFill>
                <a:latin typeface="Calibri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356616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82296" cy="2560320"/>
          </a:xfrm>
          <a:prstGeom prst="rect">
            <a:avLst/>
          </a:prstGeom>
          <a:solidFill>
            <a:srgbClr val="0E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4708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E6B5C"/>
                </a:solidFill>
                <a:latin typeface="Calibri"/>
              </a:rPr>
              <a:t>Reminders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04288"/>
            <a:ext cx="3200400" cy="1920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One check-in reminder per working day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Approval / rejection alerts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Managers: requests waiting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Urgent announcements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"Looks like you left" check-out nudge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737360"/>
            <a:ext cx="356616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737360"/>
            <a:ext cx="82296" cy="2560320"/>
          </a:xfrm>
          <a:prstGeom prst="rect">
            <a:avLst/>
          </a:prstGeom>
          <a:solidFill>
            <a:srgbClr val="2F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84708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F7CF6"/>
                </a:solidFill>
                <a:latin typeface="Calibri"/>
              </a:rPr>
              <a:t>Languages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304288"/>
            <a:ext cx="3200400" cy="1920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English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मराठी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हिंदी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ગુજરાતી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Switch any time in Profile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737360"/>
            <a:ext cx="356616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737360"/>
            <a:ext cx="82296" cy="2560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84708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7C3AED"/>
                </a:solidFill>
                <a:latin typeface="Calibri"/>
              </a:rPr>
              <a:t>Consistent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304288"/>
            <a:ext cx="3200400" cy="1920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Same top bar and bottom bar on every screen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Clean cards, large touch targets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Fits a small phone without clutter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57200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E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7548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F3A33"/>
                </a:solidFill>
                <a:latin typeface="Calibri"/>
              </a:rPr>
              <a:t>Notifications are local and arrive within about 30 minutes. Real push (FCM) is on the roadmap.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E6B5C"/>
                </a:solidFill>
                <a:latin typeface="Calibri"/>
              </a:rPr>
              <a:t>Quick guide: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F6F6A"/>
                </a:solidFill>
                <a:latin typeface="Calibri"/>
              </a:rPr>
              <a:t>Three roles, three short paths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F6F6A"/>
                </a:solidFill>
                <a:latin typeface="Calibri"/>
              </a:rPr>
              <a:t>ElintOmAT  |  Attendance &amp; Work Companion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F6F6A"/>
                </a:solidFill>
                <a:latin typeface="Calibri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356616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82296" cy="4206240"/>
          </a:xfrm>
          <a:prstGeom prst="rect">
            <a:avLst/>
          </a:prstGeom>
          <a:solidFill>
            <a:srgbClr val="0E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4708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E6B5C"/>
                </a:solidFill>
                <a:latin typeface="Calibri"/>
              </a:rPr>
              <a:t>Employee (daily)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04288"/>
            <a:ext cx="3200400" cy="35661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1. Open the app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2. Tap Check In, look at the camera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3. Use the tiles if you will be late / away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4. Add notes / photos during visits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5. End visit or check out, add a day note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6. Check Records for hours and leave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737360"/>
            <a:ext cx="356616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737360"/>
            <a:ext cx="82296" cy="4206240"/>
          </a:xfrm>
          <a:prstGeom prst="rect">
            <a:avLst/>
          </a:prstGeom>
          <a:solidFill>
            <a:srgbClr val="2F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84708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F7CF6"/>
                </a:solidFill>
                <a:latin typeface="Calibri"/>
              </a:rPr>
              <a:t>Manager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304288"/>
            <a:ext cx="3200400" cy="35661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1. Open Attendance requests on the web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2. Review pending items (with voice notes)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3. Approve or reject with a note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4. Check team attendance and corrections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5. Acknowledge face-less check-ins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737360"/>
            <a:ext cx="356616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737360"/>
            <a:ext cx="82296" cy="42062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84708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7C3AED"/>
                </a:solidFill>
                <a:latin typeface="Calibri"/>
              </a:rPr>
              <a:t>Admin /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304288"/>
            <a:ext cx="3200400" cy="35661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1. Add announcements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2. Set the daily heading and thoughts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3. Plan visits for the field team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4. Maintain sites, shifts and leave balances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5. Review reports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E6B5C"/>
                </a:solidFill>
                <a:latin typeface="Calibri"/>
              </a:rPr>
              <a:t>How the pieces talk to each other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F6F6A"/>
                </a:solidFill>
                <a:latin typeface="Calibri"/>
              </a:rPr>
              <a:t>ElintOmAT  |  Attendance &amp; Work Companion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F6F6A"/>
                </a:solidFill>
                <a:latin typeface="Calibri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260604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E6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2606040" cy="548640"/>
          </a:xfrm>
          <a:prstGeom prst="roundRect">
            <a:avLst>
              <a:gd name="adj" fmla="val 8000"/>
            </a:avLst>
          </a:prstGeom>
          <a:solidFill>
            <a:srgbClr val="0E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74519"/>
            <a:ext cx="2606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Android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60320"/>
            <a:ext cx="23774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Home, Capture, Records,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My day, Profile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Local alarms and tracking</a:t>
            </a:r>
          </a:p>
        </p:txBody>
      </p:sp>
      <p:sp>
        <p:nvSpPr>
          <p:cNvPr id="10" name="Left-Right Arrow 9"/>
          <p:cNvSpPr/>
          <p:nvPr/>
        </p:nvSpPr>
        <p:spPr>
          <a:xfrm>
            <a:off x="3163824" y="3108960"/>
            <a:ext cx="256032" cy="365760"/>
          </a:xfrm>
          <a:prstGeom prst="leftRightArrow">
            <a:avLst/>
          </a:prstGeom>
          <a:solidFill>
            <a:srgbClr val="0E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29000" y="1828800"/>
            <a:ext cx="260604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F7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9000" y="1828800"/>
            <a:ext cx="2606040" cy="548640"/>
          </a:xfrm>
          <a:prstGeom prst="roundRect">
            <a:avLst>
              <a:gd name="adj" fmla="val 8000"/>
            </a:avLst>
          </a:prstGeom>
          <a:solidFill>
            <a:srgbClr val="2F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874519"/>
            <a:ext cx="2606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Attendance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560320"/>
            <a:ext cx="23774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Token login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Check-in / out, face match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Requests, visits, notes,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announcements, records</a:t>
            </a:r>
          </a:p>
        </p:txBody>
      </p:sp>
      <p:sp>
        <p:nvSpPr>
          <p:cNvPr id="15" name="Left-Right Arrow 14"/>
          <p:cNvSpPr/>
          <p:nvPr/>
        </p:nvSpPr>
        <p:spPr>
          <a:xfrm>
            <a:off x="6044183" y="3108960"/>
            <a:ext cx="256032" cy="365760"/>
          </a:xfrm>
          <a:prstGeom prst="leftRightArrow">
            <a:avLst/>
          </a:prstGeom>
          <a:solidFill>
            <a:srgbClr val="0E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09359" y="1828800"/>
            <a:ext cx="260604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59" y="1828800"/>
            <a:ext cx="2606040" cy="54864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59" y="1874519"/>
            <a:ext cx="2606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560320"/>
            <a:ext cx="23774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Attendance, faces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Requests, balances, shifts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Announcements, messages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Visit plans and notes</a:t>
            </a:r>
          </a:p>
        </p:txBody>
      </p:sp>
      <p:sp>
        <p:nvSpPr>
          <p:cNvPr id="20" name="Left-Right Arrow 19"/>
          <p:cNvSpPr/>
          <p:nvPr/>
        </p:nvSpPr>
        <p:spPr>
          <a:xfrm>
            <a:off x="8924544" y="3108960"/>
            <a:ext cx="256032" cy="365760"/>
          </a:xfrm>
          <a:prstGeom prst="leftRightArrow">
            <a:avLst/>
          </a:prstGeom>
          <a:solidFill>
            <a:srgbClr val="0E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89719" y="1828800"/>
            <a:ext cx="260604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B46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9719" y="1828800"/>
            <a:ext cx="2606040" cy="548640"/>
          </a:xfrm>
          <a:prstGeom prst="roundRect">
            <a:avLst>
              <a:gd name="adj" fmla="val 8000"/>
            </a:avLst>
          </a:prstGeom>
          <a:solidFill>
            <a:srgbClr val="B4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9719" y="1874519"/>
            <a:ext cx="2606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HR web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560320"/>
            <a:ext cx="23774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Approve / reject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Announcements, messages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Visit plans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212080"/>
            <a:ext cx="11064240" cy="822960"/>
          </a:xfrm>
          <a:prstGeom prst="roundRect">
            <a:avLst>
              <a:gd name="adj" fmla="val 8000"/>
            </a:avLst>
          </a:prstGeom>
          <a:solidFill>
            <a:srgbClr val="E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3492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E6B5C"/>
                </a:solidFill>
                <a:latin typeface="Calibri"/>
              </a:rPr>
              <a:t>Example: Employee requests leave  -&gt;  API saves it  -&gt;  Manager approves on web  -&gt;  Balance updates  -&gt;  Employee is notified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E6B5C"/>
                </a:solidFill>
                <a:latin typeface="Calibri"/>
              </a:rPr>
              <a:t>What comes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F6F6A"/>
                </a:solidFill>
                <a:latin typeface="Calibri"/>
              </a:rPr>
              <a:t>Planned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F6F6A"/>
                </a:solidFill>
                <a:latin typeface="Calibri"/>
              </a:rPr>
              <a:t>ElintOmAT  |  Attendance &amp; Work Companion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F6F6A"/>
                </a:solidFill>
                <a:latin typeface="Calibri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356616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82296" cy="3291840"/>
          </a:xfrm>
          <a:prstGeom prst="rect">
            <a:avLst/>
          </a:prstGeom>
          <a:solidFill>
            <a:srgbClr val="0E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4708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E6B5C"/>
                </a:solidFill>
                <a:latin typeface="Calibri"/>
              </a:rPr>
              <a:t>Soon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04288"/>
            <a:ext cx="320040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Real push notifications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Widget and lock-screen check-in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Name an unknown site in the app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Announcements per branch / team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737360"/>
            <a:ext cx="356616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737360"/>
            <a:ext cx="82296" cy="3291840"/>
          </a:xfrm>
          <a:prstGeom prst="rect">
            <a:avLst/>
          </a:prstGeom>
          <a:solidFill>
            <a:srgbClr val="2F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84708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F7CF6"/>
                </a:solidFill>
                <a:latin typeface="Calibri"/>
              </a:rPr>
              <a:t>Next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304288"/>
            <a:ext cx="320040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Weather and festival cards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Badges and streak rewards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Dark mode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Travel allowance and kudos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737360"/>
            <a:ext cx="356616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737360"/>
            <a:ext cx="82296" cy="32918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84708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7C3AED"/>
                </a:solidFill>
                <a:latin typeface="Calibri"/>
              </a:rPr>
              <a:t>Later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304288"/>
            <a:ext cx="320040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Planned visit routes and km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Customer insights on the visit card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Wearable support</a:t>
            </a:r>
          </a:p>
          <a:p>
            <a:pPr algn="l"/>
            <a:r>
              <a:rPr sz="1300" b="0">
                <a:solidFill>
                  <a:srgbClr val="1F3A33"/>
                </a:solidFill>
                <a:latin typeface="Calibri"/>
              </a:rPr>
              <a:t>Advanced analytics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6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4747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CFE8E0"/>
                </a:solidFill>
                <a:latin typeface="Calibri"/>
              </a:rPr>
              <a:t>Questions and live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